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7" r:id="rId13"/>
    <p:sldId id="268" r:id="rId14"/>
    <p:sldId id="266" r:id="rId15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0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9/15/2025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506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71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5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3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99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2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829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90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142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538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477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802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1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3" cy="2387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all" spc="0" baseline="0">
                <a:solidFill>
                  <a:schemeClr val="tx1"/>
                </a:solidFill>
                <a:latin typeface="Bookman Old Style" charset="0"/>
                <a:ea typeface="宋体" charset="0"/>
                <a:cs typeface="Lucida Sans"/>
              </a:rPr>
              <a:t>Click to edit Master title style</a:t>
            </a:r>
            <a:endParaRPr lang="zh-CN" altLang="en-US" sz="4800" b="1" i="0" u="none" strike="noStrike" kern="1200" cap="all" spc="0" baseline="0">
              <a:solidFill>
                <a:schemeClr val="tx1"/>
              </a:solidFill>
              <a:latin typeface="Bookman Old Style" charset="0"/>
              <a:ea typeface="宋体" charset="0"/>
              <a:cs typeface="Lucida Sans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3" cy="1655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00" b="0" i="0" u="none" strike="noStrike" kern="1200" cap="none" spc="0" baseline="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ftr"/>
          </p:nvPr>
        </p:nvSpPr>
        <p:spPr>
          <a:xfrm>
            <a:off x="913793" y="5883275"/>
            <a:ext cx="667286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00" b="0" i="0" u="none" strike="noStrike" kern="1200" cap="none" spc="0" baseline="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/>
          </p:nvPr>
        </p:nvSpPr>
        <p:spPr>
          <a:xfrm>
            <a:off x="10514011" y="5883275"/>
            <a:ext cx="75354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Rockwell" charset="0"/>
                <a:ea typeface="宋体" charset="0"/>
                <a:cs typeface="Rockwell" charset="0"/>
              </a:rPr>
              <a:t>‹#›</a:t>
            </a:fld>
            <a:endParaRPr lang="zh-CN" altLang="en-US" sz="1000" b="0" i="0" u="none" strike="noStrike" kern="1200" cap="none" spc="0" baseline="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01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9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7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20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06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38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4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11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00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6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127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blipFill>
          <a:blip r:embed="rId2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3" cy="28527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r>
              <a:rPr lang="en-US" altLang="zh-CN" sz="3400"/>
              <a:t>Click to edit Master title style</a:t>
            </a:r>
            <a:endParaRPr lang="zh-CN" altLang="en-US" sz="3400"/>
          </a:p>
        </p:txBody>
      </p:sp>
      <p:sp>
        <p:nvSpPr>
          <p:cNvPr id="32" name="文本框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3" cy="150018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2400">
                <a:solidFill>
                  <a:srgbClr val="FFFFFF"/>
                </a:solidFill>
              </a:rPr>
              <a:t>Click to edit Master text styles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33" name="文本框"/>
          <p:cNvSpPr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endParaRPr lang="zh-CN" altLang="en-US" sz="100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  <p:sp>
        <p:nvSpPr>
          <p:cNvPr id="34" name="文本框"/>
          <p:cNvSpPr>
            <a:spLocks noGrp="1"/>
          </p:cNvSpPr>
          <p:nvPr>
            <p:ph type="ftr"/>
          </p:nvPr>
        </p:nvSpPr>
        <p:spPr>
          <a:xfrm>
            <a:off x="913793" y="5883275"/>
            <a:ext cx="667286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00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  <p:sp>
        <p:nvSpPr>
          <p:cNvPr id="35" name="文本框"/>
          <p:cNvSpPr>
            <a:spLocks noGrp="1"/>
          </p:cNvSpPr>
          <p:nvPr>
            <p:ph type="sldNum"/>
          </p:nvPr>
        </p:nvSpPr>
        <p:spPr>
          <a:xfrm>
            <a:off x="10514011" y="5883275"/>
            <a:ext cx="75354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Rockwell" charset="0"/>
                <a:ea typeface="宋体" charset="0"/>
                <a:cs typeface="Rockwell" charset="0"/>
              </a:rPr>
              <a:t>‹#›</a:t>
            </a:fld>
            <a:endParaRPr lang="zh-CN" altLang="en-US" sz="100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0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632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000">
                <a:solidFill>
                  <a:srgbClr val="FFFFFF"/>
                </a:solidFill>
                <a:latin typeface="Rockwell" charset="0"/>
                <a:ea typeface="宋体" charset="0"/>
                <a:cs typeface="Rockwell" charset="0"/>
              </a:rPr>
              <a:t>9/15/2025</a:t>
            </a:fld>
            <a:endParaRPr lang="zh-CN" altLang="en-US" sz="100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913793" y="5883275"/>
            <a:ext cx="6672864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00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10514011" y="5883275"/>
            <a:ext cx="753544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Rockwell" charset="0"/>
                <a:ea typeface="宋体" charset="0"/>
                <a:cs typeface="Rockwell" charset="0"/>
              </a:rPr>
              <a:t>‹#›</a:t>
            </a:fld>
            <a:endParaRPr lang="zh-CN" altLang="en-US" sz="1000">
              <a:solidFill>
                <a:srgbClr val="FFFFFF"/>
              </a:solidFill>
              <a:latin typeface="Rockwell" charset="0"/>
              <a:ea typeface="宋体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17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lnSpc>
          <a:spcPct val="90000"/>
        </a:lnSpc>
        <a:spcBef>
          <a:spcPts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>
              <a:srgbClr val="000000">
                <a:alpha val="48000"/>
              </a:srgbClr>
            </a:outerShdw>
          </a:effectLst>
          <a:latin typeface="Bookman Old Style" charset="0"/>
          <a:ea typeface="宋体" charset="0"/>
          <a:cs typeface="Bookman Old Style" charset="0"/>
        </a:defRPr>
      </a:lvl1pPr>
    </p:titleStyle>
    <p:bodyStyle>
      <a:lvl1pPr marL="228600" indent="-228600" algn="l" defTabSz="914400" eaLnBrk="1" fontAlgn="auto" latinLnBrk="0" hangingPunct="1">
        <a:lnSpc>
          <a:spcPct val="120000"/>
        </a:lnSpc>
        <a:spcBef>
          <a:spcPts val="1000"/>
        </a:spcBef>
        <a:buFont typeface="Arial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1pPr>
      <a:lvl2pPr marL="6858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2pPr>
      <a:lvl3pPr marL="11430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3pPr>
      <a:lvl4pPr marL="16002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4pPr>
      <a:lvl5pPr marL="20574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5pPr>
      <a:lvl6pPr marL="25146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6pPr>
      <a:lvl7pPr marL="29718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7pPr>
      <a:lvl8pPr marL="34290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8pPr>
      <a:lvl9pPr marL="3429000" indent="-228600" algn="l" defTabSz="914400" eaLnBrk="1" fontAlgn="auto" latinLnBrk="0" hangingPunct="1">
        <a:lnSpc>
          <a:spcPct val="120000"/>
        </a:lnSpc>
        <a:spcBef>
          <a:spcPts val="500"/>
        </a:spcBef>
        <a:buFont typeface="Arial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>
              <a:srgbClr val="000000">
                <a:alpha val="48000"/>
              </a:srgbClr>
            </a:outerShdw>
          </a:effectLst>
          <a:latin typeface="Rockwell" charset="0"/>
          <a:ea typeface="宋体" charset="0"/>
          <a:cs typeface="Rockwel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tsx3.readthedocs.io/" TargetMode="External"/><Relationship Id="rId2" Type="http://schemas.openxmlformats.org/officeDocument/2006/relationships/hyperlink" Target="https://opencv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opencv.org/3.4/db/d28/tutorial_cascade_classifier.html" TargetMode="External"/><Relationship Id="rId4" Type="http://schemas.openxmlformats.org/officeDocument/2006/relationships/hyperlink" Target="https://docs.python.org/3/library/smtplib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"/>
          <p:cNvSpPr>
            <a:spLocks noGrp="1"/>
          </p:cNvSpPr>
          <p:nvPr>
            <p:ph type="ctrTitle"/>
          </p:nvPr>
        </p:nvSpPr>
        <p:spPr>
          <a:xfrm>
            <a:off x="439839" y="1122362"/>
            <a:ext cx="9722733" cy="295192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4800" b="1" i="0" u="none" strike="noStrike" kern="1200" cap="all" spc="0" baseline="0">
                <a:solidFill>
                  <a:schemeClr val="tx1"/>
                </a:solidFill>
                <a:latin typeface="Bookman Old Style" charset="0"/>
                <a:ea typeface="宋体" charset="0"/>
                <a:cs typeface="Lucida Sans"/>
              </a:rPr>
            </a:br>
            <a:br>
              <a:rPr lang="zh-CN" altLang="en-US" sz="4800" b="1" i="0" u="none" strike="noStrike" kern="1200" cap="all" spc="0" baseline="0">
                <a:solidFill>
                  <a:schemeClr val="tx1"/>
                </a:solidFill>
                <a:latin typeface="Bookman Old Style" charset="0"/>
                <a:ea typeface="宋体" charset="0"/>
                <a:cs typeface="Lucida Sans"/>
              </a:rPr>
            </a:br>
            <a:r>
              <a:rPr lang="en-US" altLang="zh-CN" sz="3600" b="1" i="0" u="none" strike="noStrike" kern="1200" cap="all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THEFT DETECTION by using face recognition</a:t>
            </a:r>
            <a:endParaRPr lang="zh-CN" altLang="en-US" sz="3600" b="1" i="0" u="none" strike="noStrike" kern="1200" cap="all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9" name="文本框"/>
          <p:cNvSpPr>
            <a:spLocks noGrp="1"/>
          </p:cNvSpPr>
          <p:nvPr>
            <p:ph type="subTitle" idx="1"/>
          </p:nvPr>
        </p:nvSpPr>
        <p:spPr>
          <a:xfrm>
            <a:off x="7846141" y="4286864"/>
            <a:ext cx="4480898" cy="25711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Presented by: </a:t>
            </a: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 err="1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K.Deepthi</a:t>
            </a: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 (23RH1A66E7)</a:t>
            </a: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 err="1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K.Udaya</a:t>
            </a: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 Keerthi(23RH1A66E4)</a:t>
            </a: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 err="1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M.</a:t>
            </a:r>
            <a:r>
              <a:rPr lang="en-US" altLang="zh-CN" sz="2400" dirty="0" err="1">
                <a:cs typeface="Lucida Sans"/>
              </a:rPr>
              <a:t>Neeraja</a:t>
            </a: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(23RH1A66J3)</a:t>
            </a: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  <a:p>
            <a:pPr marL="0" indent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</p:txBody>
      </p:sp>
      <p:pic>
        <p:nvPicPr>
          <p:cNvPr id="20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71437"/>
            <a:ext cx="12191999" cy="2387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95356E-0D4B-641B-6AF1-2E1D686840F3}"/>
              </a:ext>
            </a:extLst>
          </p:cNvPr>
          <p:cNvSpPr txBox="1"/>
          <p:nvPr/>
        </p:nvSpPr>
        <p:spPr>
          <a:xfrm>
            <a:off x="904568" y="5447071"/>
            <a:ext cx="380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GUIDE</a:t>
            </a:r>
            <a:r>
              <a:rPr lang="en-IN" dirty="0"/>
              <a:t>: </a:t>
            </a:r>
            <a:r>
              <a:rPr lang="en-IN" b="1" dirty="0"/>
              <a:t>Mrs Vijaya Durga</a:t>
            </a:r>
          </a:p>
        </p:txBody>
      </p:sp>
    </p:spTree>
    <p:extLst>
      <p:ext uri="{BB962C8B-B14F-4D97-AF65-F5344CB8AC3E}">
        <p14:creationId xmlns:p14="http://schemas.microsoft.com/office/powerpoint/2010/main" val="60778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"/>
          <p:cNvSpPr>
            <a:spLocks noGrp="1"/>
          </p:cNvSpPr>
          <p:nvPr>
            <p:ph type="subTitle" idx="1"/>
          </p:nvPr>
        </p:nvSpPr>
        <p:spPr>
          <a:xfrm>
            <a:off x="1595269" y="117987"/>
            <a:ext cx="9001463" cy="68727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600" b="0" i="0" u="sng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CONTENTS: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with block diagram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 system 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screen shots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scopes</a:t>
            </a:r>
          </a:p>
          <a:p>
            <a:pPr marL="514350" indent="-5143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  <a:p>
            <a: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  <a:p>
            <a: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69732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subTitle" idx="1"/>
          </p:nvPr>
        </p:nvSpPr>
        <p:spPr>
          <a:xfrm>
            <a:off x="884903" y="521110"/>
            <a:ext cx="10648334" cy="55527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INTRODUCTION: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a major concern in homes, offices, and institutions.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CCTV systems only record video and require manual monitoring.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provides a biometric and reliable way to identify individuals.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develops a smart theft detection system that: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recognizes faces in real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time.Greets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authorized users with a voice message.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Raises an alert for unknown persons. Sends an email notification with the captured image of intruders.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system more interactive, secure, and effective than existing methods.</a:t>
            </a:r>
            <a:endParaRPr lang="en-US" altLang="zh-CN" sz="180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98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noGrp="1"/>
          </p:cNvSpPr>
          <p:nvPr>
            <p:ph type="subTitle" idx="1"/>
          </p:nvPr>
        </p:nvSpPr>
        <p:spPr>
          <a:xfrm>
            <a:off x="373626" y="609600"/>
            <a:ext cx="7354529" cy="5958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7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altLang="zh-CN" sz="2800" b="1" i="0" u="sng" strike="noStrike" kern="100" cap="none" spc="0" baseline="0" dirty="0">
                <a:solidFill>
                  <a:schemeClr val="tx1"/>
                </a:solidFill>
                <a:latin typeface="Calibri" charset="0"/>
                <a:ea typeface="Calibri" charset="0"/>
                <a:cs typeface="Times New Roman" pitchFamily="18" charset="0"/>
              </a:rPr>
              <a:t>Existing system:</a:t>
            </a:r>
            <a:endParaRPr lang="en-US" altLang="zh-CN" sz="2800" b="1" i="0" u="none" strike="noStrike" kern="100" cap="none" spc="0" baseline="0" dirty="0">
              <a:solidFill>
                <a:schemeClr val="tx1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Most existing security systems use CCTV cameras with manual monitoring.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Some systems rely on motion detection, which often causes false alarms (e.g., animals, shadows, or normal movements).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Basic face recognition systems only display the detected face but do not provide alerts or notifications.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   </a:t>
            </a:r>
            <a:r>
              <a:rPr lang="en-US" altLang="zh-CN" sz="24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These systems</a:t>
            </a: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Cannot give real-time warning to the owner.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Do not integrate with voice commands or email alerts.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800" kern="100" dirty="0">
                <a:latin typeface="Times New Roman" pitchFamily="18" charset="0"/>
                <a:ea typeface="Calibri" charset="0"/>
                <a:cs typeface="Times New Roman" pitchFamily="18" charset="0"/>
              </a:rPr>
              <a:t>May not work effectively under different lighting or camera angles.</a:t>
            </a:r>
            <a:endParaRPr lang="en-US" altLang="zh-CN" sz="1800" b="0" i="0" u="none" strike="noStrike" kern="100" cap="none" spc="0" baseline="0" dirty="0">
              <a:solidFill>
                <a:schemeClr val="tx1"/>
              </a:solidFill>
              <a:latin typeface="Times New Roman" pitchFamily="18" charset="0"/>
              <a:ea typeface="Calibri" charset="0"/>
              <a:cs typeface="Times New Roman" pitchFamily="18" charset="0"/>
            </a:endParaRPr>
          </a:p>
        </p:txBody>
      </p:sp>
      <p:pic>
        <p:nvPicPr>
          <p:cNvPr id="26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39246" y="147485"/>
            <a:ext cx="3379127" cy="20724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softEdge rad="112500"/>
          </a:effectLst>
        </p:spPr>
      </p:pic>
      <p:pic>
        <p:nvPicPr>
          <p:cNvPr id="27" name="图片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28155" y="2219947"/>
            <a:ext cx="3038167" cy="207246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softEdge rad="112500"/>
          </a:effectLst>
        </p:spPr>
      </p:pic>
      <p:pic>
        <p:nvPicPr>
          <p:cNvPr id="28" name="图片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39246" y="4582699"/>
            <a:ext cx="3641428" cy="1985010"/>
          </a:xfrm>
          <a:prstGeom prst="rect">
            <a:avLst/>
          </a:prstGeom>
          <a:solidFill>
            <a:srgbClr val="EDEDED"/>
          </a:solidFill>
          <a:ln w="12700" cap="flat" cmpd="sng">
            <a:noFill/>
            <a:prstDash val="solid"/>
            <a:round/>
          </a:ln>
          <a:effectLst>
            <a:reflection blurRad="12700" stA="38000" endA="3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3280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"/>
          <p:cNvSpPr>
            <a:spLocks noGrp="1"/>
          </p:cNvSpPr>
          <p:nvPr>
            <p:ph type="subTitle" idx="1"/>
          </p:nvPr>
        </p:nvSpPr>
        <p:spPr>
          <a:xfrm>
            <a:off x="501445" y="707923"/>
            <a:ext cx="11120285" cy="54470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altLang="zh-CN" sz="2800" b="1" i="0" strike="noStrike" kern="100" cap="none" spc="0" baseline="0" dirty="0">
                <a:solidFill>
                  <a:schemeClr val="tx1"/>
                </a:solidFill>
                <a:latin typeface="Calibri" charset="0"/>
                <a:ea typeface="Calibri" charset="0"/>
                <a:cs typeface="Times New Roman" pitchFamily="18" charset="0"/>
              </a:rPr>
              <a:t>DISADVANTAGES 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altLang="zh-CN" sz="1800" b="1" kern="100" dirty="0">
              <a:latin typeface="Calibri" charset="0"/>
              <a:ea typeface="Calibri" charset="0"/>
              <a:cs typeface="Times New Roman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sz="1800" b="1" kern="100" dirty="0">
                <a:latin typeface="Calibri" charset="0"/>
                <a:ea typeface="Calibri" charset="0"/>
                <a:cs typeface="Times New Roman" pitchFamily="18" charset="0"/>
              </a:rPr>
              <a:t>Requires continuous manual monitoring by security personnel.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sz="1800" b="1" kern="100" dirty="0">
                <a:latin typeface="Calibri" charset="0"/>
                <a:ea typeface="Calibri" charset="0"/>
                <a:cs typeface="Times New Roman" pitchFamily="18" charset="0"/>
              </a:rPr>
              <a:t>Motion-based systems trigger many false positives (e.g., pets, shadows, moving objects).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sz="1800" b="1" kern="100" dirty="0">
                <a:latin typeface="Calibri" charset="0"/>
                <a:ea typeface="Calibri" charset="0"/>
                <a:cs typeface="Times New Roman" pitchFamily="18" charset="0"/>
              </a:rPr>
              <a:t>No real-time alerts to the owner when unauthorized access happens.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sz="1800" b="1" kern="100" dirty="0">
                <a:latin typeface="Calibri" charset="0"/>
                <a:ea typeface="Calibri" charset="0"/>
                <a:cs typeface="Times New Roman" pitchFamily="18" charset="0"/>
              </a:rPr>
              <a:t>Lack of voice interaction or user-friendly feedback.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sz="1800" b="1" kern="100" dirty="0">
                <a:latin typeface="Calibri" charset="0"/>
                <a:ea typeface="Calibri" charset="0"/>
                <a:cs typeface="Times New Roman" pitchFamily="18" charset="0"/>
              </a:rPr>
              <a:t>No automatic email or message notification in case of intruders.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sz="1800" b="1" kern="100" dirty="0">
                <a:latin typeface="Calibri" charset="0"/>
                <a:ea typeface="Calibri" charset="0"/>
                <a:cs typeface="Times New Roman" pitchFamily="18" charset="0"/>
              </a:rPr>
              <a:t>Limited accuracy in low light or with different face angles.</a:t>
            </a:r>
            <a:endParaRPr lang="en-US" altLang="zh-CN" sz="1800" b="1" i="0" u="none" strike="noStrike" kern="100" cap="none" spc="0" baseline="0" dirty="0">
              <a:solidFill>
                <a:schemeClr val="tx1"/>
              </a:solidFill>
              <a:latin typeface="Calibri" charset="0"/>
              <a:ea typeface="Calibri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54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subTitle" idx="1"/>
          </p:nvPr>
        </p:nvSpPr>
        <p:spPr>
          <a:xfrm>
            <a:off x="993058" y="668593"/>
            <a:ext cx="9881418" cy="58305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sng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                     </a:t>
            </a: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  <a:r>
              <a:rPr lang="en-US" altLang="zh-CN" sz="2400" b="0" i="0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</a:t>
            </a:r>
            <a:r>
              <a:rPr lang="en-US" altLang="zh-CN" sz="2800" b="1" i="0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SYSTEM REQUIREMENTS</a:t>
            </a:r>
            <a:r>
              <a:rPr lang="en-US" altLang="zh-CN" sz="2400" b="0" i="0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:</a:t>
            </a:r>
            <a:endParaRPr lang="en-US" altLang="zh-CN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Laptop/PC with inbuilt or external webcam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Minimum 4 GB RAM, i3 processor or above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Storage space for saving images and logs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Internet connection (for sending email alerts)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Operating System: Windows / Linux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Programming Language: Python 3.</a:t>
            </a:r>
          </a:p>
          <a:p>
            <a:pPr>
              <a:lnSpc>
                <a:spcPct val="110000"/>
              </a:lnSpc>
            </a:pP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xLibraries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: OpenCV, NumPy, Pyttsx3,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smtplib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Pre-trained models: Haar Cascade, LBPH Face Recognizer</a:t>
            </a:r>
            <a:endParaRPr lang="en-US" altLang="zh-CN" b="0" i="0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b="0" i="0" u="sng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400" b="0" i="0" u="sng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  <a:p>
            <a:pPr marL="0" indent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Rockwell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4662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body" idx="1"/>
          </p:nvPr>
        </p:nvSpPr>
        <p:spPr>
          <a:xfrm>
            <a:off x="412955" y="147484"/>
            <a:ext cx="11287432" cy="630247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None/>
            </a:pPr>
            <a:endParaRPr lang="en-US" altLang="zh-CN" sz="3000" b="1" i="0" strike="noStrike" kern="100" cap="none" spc="0" baseline="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marL="0" indent="0" algn="ctr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altLang="zh-CN" sz="3000" b="1" i="0" strike="noStrike" kern="1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PROPOSED SYSTEM</a:t>
            </a:r>
            <a:r>
              <a:rPr lang="en-US" altLang="zh-CN" sz="3000" b="1" i="0" u="sng" strike="noStrike" kern="1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:</a:t>
            </a:r>
            <a:endParaRPr lang="en-US" altLang="zh-CN" sz="3000" b="0" i="0" u="none" strike="noStrike" kern="100" cap="none" spc="0" baseline="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altLang="zh-CN" kern="10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Proposed </a:t>
            </a:r>
            <a:r>
              <a:rPr lang="en-US" altLang="zh-CN" kern="100" dirty="0" err="1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SystemThe</a:t>
            </a: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 proposed system uses Face Recognition to enhance security.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It works in real-time to detect and recognize individuals.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   </a:t>
            </a:r>
            <a:r>
              <a:rPr lang="en-US" altLang="zh-CN" b="1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If the face is recognized</a:t>
            </a:r>
            <a:r>
              <a:rPr lang="en-US" altLang="zh-CN" sz="2400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System greets with a voice message – “Welcome back [Name]”.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   </a:t>
            </a:r>
            <a:r>
              <a:rPr lang="en-US" altLang="zh-CN" b="1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If the face is unknown</a:t>
            </a: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System gives a voice alert – “Alert! Unknown person detected”.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Captures and saves the image of the intruder.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Sends an email notification with the snapshot to the owner.</a:t>
            </a:r>
            <a:endParaRPr lang="zh-CN" altLang="en-US" b="0" i="0" u="none" strike="noStrike" kern="100" cap="none" spc="0" baseline="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89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B85F9-F87A-289F-FD7D-7B02B928A96A}"/>
              </a:ext>
            </a:extLst>
          </p:cNvPr>
          <p:cNvSpPr txBox="1"/>
          <p:nvPr/>
        </p:nvSpPr>
        <p:spPr>
          <a:xfrm>
            <a:off x="3342969" y="1130710"/>
            <a:ext cx="5093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         BLOCK DIAGRAM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55CA2-976B-5A0F-7977-1EBB19E83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10" y="1946787"/>
            <a:ext cx="7934631" cy="47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4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>
            <a:off x="255639" y="117987"/>
            <a:ext cx="11759380" cy="660727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87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altLang="zh-CN" sz="500" b="0" i="0" u="none" strike="noStrike" kern="1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 </a:t>
            </a:r>
          </a:p>
          <a:p>
            <a:pPr marL="0" indent="0" algn="ctr">
              <a:lnSpc>
                <a:spcPct val="87000"/>
              </a:lnSpc>
              <a:spcBef>
                <a:spcPts val="1000"/>
              </a:spcBef>
              <a:spcAft>
                <a:spcPts val="800"/>
              </a:spcAft>
              <a:buNone/>
            </a:pPr>
            <a:endParaRPr lang="en-US" altLang="zh-CN" sz="2800" b="1" kern="10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marL="0" indent="0" algn="ctr">
              <a:lnSpc>
                <a:spcPct val="87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altLang="zh-CN" sz="2800" b="1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ADVANTAGES</a:t>
            </a:r>
            <a:r>
              <a:rPr lang="en-US" altLang="zh-CN" sz="2800" b="1" i="0" u="none" strike="noStrike" kern="1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 OF PROPOSED SYSTEM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altLang="zh-CN" kern="10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detection of authorized and unauthorized persons.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Provides voice feedback for both known and unknown users.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Instant email alert with intruder’s image improves security.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Reduces dependency on manual monitoring of CCTV.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More accurate than motion-based detection </a:t>
            </a:r>
            <a:r>
              <a:rPr lang="en-US" altLang="zh-CN" kern="100" dirty="0" err="1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systems.Cost</a:t>
            </a: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-effective and easy to implement using Python and OpenCV.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altLang="zh-CN" kern="100" dirty="0">
                <a:solidFill>
                  <a:srgbClr val="FFFFFF"/>
                </a:solidFill>
                <a:latin typeface="Calibri" charset="0"/>
                <a:ea typeface="Calibri" charset="0"/>
                <a:cs typeface="Times New Roman" pitchFamily="18" charset="0"/>
              </a:rPr>
              <a:t>Can be extended with features like age, gender, and emotion detection.</a:t>
            </a:r>
            <a:endParaRPr lang="en-US" altLang="zh-CN" b="0" i="0" u="none" strike="noStrike" kern="100" cap="none" spc="0" baseline="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None/>
            </a:pPr>
            <a:endParaRPr lang="en-US" altLang="zh-CN" b="0" i="0" u="none" strike="noStrike" kern="100" cap="none" spc="0" baseline="0" dirty="0">
              <a:solidFill>
                <a:srgbClr val="FFFFFF"/>
              </a:solidFill>
              <a:latin typeface="Calibri" charset="0"/>
              <a:ea typeface="Calibri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600" b="0" i="0" u="none" strike="noStrike" kern="1200" cap="none" spc="0" baseline="0" dirty="0">
              <a:solidFill>
                <a:srgbClr val="FFFFFF"/>
              </a:solidFill>
              <a:latin typeface="Rockwell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76000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D567-21C1-10DF-3D46-104C9988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2" cy="442451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06FCD2-C155-93B7-B481-A7677A0C90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16996" y="1935921"/>
            <a:ext cx="4721920" cy="419024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A0302-FFCE-32AF-588A-BA4290DBE9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096000" y="1935921"/>
            <a:ext cx="5479004" cy="419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9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"/>
          <p:cNvSpPr>
            <a:spLocks noGrp="1"/>
          </p:cNvSpPr>
          <p:nvPr>
            <p:ph type="subTitle" idx="1"/>
          </p:nvPr>
        </p:nvSpPr>
        <p:spPr>
          <a:xfrm>
            <a:off x="993058" y="668594"/>
            <a:ext cx="9881418" cy="542740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CONCLUSION</a:t>
            </a: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Rockwell" charset="0"/>
                <a:ea typeface="宋体" charset="0"/>
                <a:cs typeface="Lucida Sans"/>
              </a:rPr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CN" dirty="0">
              <a:latin typeface="Calibri" charset="0"/>
              <a:ea typeface="Calibri" charset="0"/>
              <a:cs typeface="Calibri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A Face Recognition Security System was successfully developed using Python and OpenCV.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The system greets known users with a personalized voice message.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For unknown persons, it raises a voice alert, captures the image, and sends an email notification to the owner.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This makes the system more interactive, reliable, and secure compared to traditional CCTV monitoring</a:t>
            </a:r>
            <a:r>
              <a:rPr lang="en-US" altLang="zh-CN" sz="2400" dirty="0">
                <a:latin typeface="Calibri" charset="0"/>
                <a:ea typeface="Calibri" charset="0"/>
                <a:cs typeface="Calibri" charset="0"/>
              </a:rPr>
              <a:t>.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790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3FADBF-5BF8-BA6C-26E1-ED46CAD80B93}"/>
              </a:ext>
            </a:extLst>
          </p:cNvPr>
          <p:cNvSpPr txBox="1"/>
          <p:nvPr/>
        </p:nvSpPr>
        <p:spPr>
          <a:xfrm>
            <a:off x="2428568" y="0"/>
            <a:ext cx="607633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                    FUTURE SCOPE </a:t>
            </a:r>
          </a:p>
          <a:p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CB782-1A03-798B-EE1E-2FFF4E43D5AB}"/>
              </a:ext>
            </a:extLst>
          </p:cNvPr>
          <p:cNvSpPr txBox="1"/>
          <p:nvPr/>
        </p:nvSpPr>
        <p:spPr>
          <a:xfrm>
            <a:off x="1179871" y="1946788"/>
            <a:ext cx="7698657" cy="3433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dirty="0"/>
              <a:t>Add Age &amp; Gender Prediction to make recognition more informative.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dirty="0"/>
              <a:t>Integrate Emotion Detection (happy, sad, angry, neutral).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dirty="0"/>
              <a:t>Deploy on IoT devices like Raspberry Pi for smart home security.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dirty="0"/>
              <a:t>Connect with smart door locks for access control.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dirty="0"/>
              <a:t>Store logs in the cloud for remote monitoring.</a:t>
            </a:r>
          </a:p>
        </p:txBody>
      </p:sp>
    </p:spTree>
    <p:extLst>
      <p:ext uri="{BB962C8B-B14F-4D97-AF65-F5344CB8AC3E}">
        <p14:creationId xmlns:p14="http://schemas.microsoft.com/office/powerpoint/2010/main" val="136171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96302D-6998-4F19-927E-B56CE3FCDCC9}"/>
              </a:ext>
            </a:extLst>
          </p:cNvPr>
          <p:cNvSpPr txBox="1"/>
          <p:nvPr/>
        </p:nvSpPr>
        <p:spPr>
          <a:xfrm>
            <a:off x="1111045" y="2428567"/>
            <a:ext cx="10363200" cy="2776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OpenCV Documentation – </a:t>
            </a:r>
            <a:r>
              <a:rPr lang="en-IN" dirty="0">
                <a:hlinkClick r:id="rId2"/>
              </a:rPr>
              <a:t>https://opencv</a:t>
            </a:r>
            <a:r>
              <a:rPr lang="en-IN" dirty="0"/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 err="1"/>
              <a:t>orgPython</a:t>
            </a:r>
            <a:r>
              <a:rPr lang="en-IN" dirty="0"/>
              <a:t> pyttsx3 Documentation – </a:t>
            </a:r>
            <a:r>
              <a:rPr lang="en-IN" dirty="0">
                <a:hlinkClick r:id="rId3"/>
              </a:rPr>
              <a:t>https://pyttsx3.readthedocs.io</a:t>
            </a:r>
            <a:endParaRPr lang="en-IN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Python </a:t>
            </a:r>
            <a:r>
              <a:rPr lang="en-IN" dirty="0" err="1"/>
              <a:t>smtplib</a:t>
            </a:r>
            <a:r>
              <a:rPr lang="en-IN" dirty="0"/>
              <a:t> (Email) Documentation – </a:t>
            </a:r>
            <a:r>
              <a:rPr lang="en-IN" dirty="0">
                <a:hlinkClick r:id="rId4"/>
              </a:rPr>
              <a:t>https://docs.python.org/3/library/smtplib.html</a:t>
            </a:r>
            <a:endParaRPr lang="en-IN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Haar Cascade Classifier – </a:t>
            </a:r>
            <a:r>
              <a:rPr lang="en-IN" dirty="0">
                <a:hlinkClick r:id="rId5"/>
              </a:rPr>
              <a:t>https://docs.opencv.org/3.4/db/d28/tutorial_cascade_classifier.html</a:t>
            </a:r>
            <a:endParaRPr lang="en-IN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LBPH Face Recognizer - https://docs.opencv.org/3.4/dc/dc3/tutorial_py_face_detection.html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1C7-30F6-F7CD-24FB-BBD00B891925}"/>
              </a:ext>
            </a:extLst>
          </p:cNvPr>
          <p:cNvSpPr txBox="1"/>
          <p:nvPr/>
        </p:nvSpPr>
        <p:spPr>
          <a:xfrm>
            <a:off x="1966452" y="1415845"/>
            <a:ext cx="608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</a:t>
            </a:r>
            <a:r>
              <a:rPr lang="en-IN" sz="2800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97354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rgbClr val="000A12"/>
              <a:srgbClr val="447CB4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subTitle" idx="1"/>
          </p:nvPr>
        </p:nvSpPr>
        <p:spPr>
          <a:xfrm>
            <a:off x="796412" y="481781"/>
            <a:ext cx="10677832" cy="57420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4" name="图片" descr="Creative Thank You Slide Design Infographic | PowerPoint Show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" y="0"/>
            <a:ext cx="12192000" cy="68224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85129023"/>
      </p:ext>
    </p:extLst>
  </p:cSld>
  <p:clrMapOvr>
    <a:masterClrMapping/>
  </p:clrMapOvr>
</p:sld>
</file>

<file path=ppt/theme/theme1.xml><?xml version="1.0" encoding="utf-8"?>
<a:theme xmlns:a="http://schemas.openxmlformats.org/drawingml/2006/main" name="Damask">
  <a:themeElements>
    <a:clrScheme name="Damask">
      <a:dk1>
        <a:srgbClr val="FFFFFF"/>
      </a:dk1>
      <a:lt1>
        <a:srgbClr val="000000"/>
      </a:lt1>
      <a:dk2>
        <a:srgbClr val="ABDAFC"/>
      </a:dk2>
      <a:lt2>
        <a:srgbClr val="2A5B7F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Damask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751</TotalTime>
  <Words>776</Words>
  <Application>Microsoft Office PowerPoint</Application>
  <PresentationFormat>Widescreen</PresentationFormat>
  <Paragraphs>112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Bookman Old Style</vt:lpstr>
      <vt:lpstr>Calibri</vt:lpstr>
      <vt:lpstr>Droid Sans</vt:lpstr>
      <vt:lpstr>Lucida Sans</vt:lpstr>
      <vt:lpstr>Rockwell</vt:lpstr>
      <vt:lpstr>Times New Roman</vt:lpstr>
      <vt:lpstr>Wingdings</vt:lpstr>
      <vt:lpstr>Damask</vt:lpstr>
      <vt:lpstr>  THEFT DETECTION by using face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mettu smruthi</dc:creator>
  <cp:lastModifiedBy>neeerajamagani932@outlook.com</cp:lastModifiedBy>
  <cp:revision>14</cp:revision>
  <dcterms:created xsi:type="dcterms:W3CDTF">2024-08-28T05:11:01Z</dcterms:created>
  <dcterms:modified xsi:type="dcterms:W3CDTF">2025-09-15T07:28:17Z</dcterms:modified>
</cp:coreProperties>
</file>